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1" r:id="rId1"/>
    <p:sldMasterId id="2147483673" r:id="rId2"/>
  </p:sldMasterIdLst>
  <p:notesMasterIdLst>
    <p:notesMasterId r:id="rId9"/>
  </p:notesMasterIdLst>
  <p:sldIdLst>
    <p:sldId id="274" r:id="rId3"/>
    <p:sldId id="325" r:id="rId4"/>
    <p:sldId id="293" r:id="rId5"/>
    <p:sldId id="326" r:id="rId6"/>
    <p:sldId id="327" r:id="rId7"/>
    <p:sldId id="264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82C1"/>
    <a:srgbClr val="295CA8"/>
    <a:srgbClr val="C60A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inimized">
    <p:restoredLeft sz="5808" autoAdjust="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-195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1C9240-0B00-47F5-8315-EA25A5DD21D4}" type="datetimeFigureOut">
              <a:rPr lang="ru-RU" smtClean="0"/>
              <a:t>26.06.2026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FE969A-3B85-41F0-B329-9B9FD47284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5821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Название дисциплины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ФИО преподавателя</a:t>
            </a:r>
          </a:p>
          <a:p>
            <a:pPr lvl="0"/>
            <a:r>
              <a:rPr lang="ru-RU" dirty="0"/>
              <a:t>Электронная почта (укажите корпоративную почту)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DCB871D2-25B0-448C-80C6-D62A08D94E97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450127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43000" y="2057399"/>
            <a:ext cx="6858000" cy="1452563"/>
          </a:xfrm>
          <a:prstGeom prst="rect">
            <a:avLst/>
          </a:prstGeo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ru-RU" dirty="0"/>
              <a:t>Название темы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43000" y="1178878"/>
            <a:ext cx="6858000" cy="4670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Номер темы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DA0D15EA-F46C-4827-B7EA-97593F313E8E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93D961C8-81F0-CCE5-93CC-B19775D0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95662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6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523743"/>
            <a:ext cx="7886700" cy="36532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B4E48A99-5F05-4D77-81C7-5AA7E39ED88A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E1400F3A-7B5E-E986-3C8D-D7E3ED32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79360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3272"/>
            <a:ext cx="7886700" cy="121869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2414015"/>
            <a:ext cx="3867150" cy="37629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414015"/>
            <a:ext cx="3867150" cy="37629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40862930-79B4-4CB1-AFB3-68C345192A83}" type="datetime1">
              <a:rPr lang="en-US" smtClean="0"/>
              <a:t>6/26/2026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EF9E7562-4C64-9200-F7CF-81A74263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8025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8808" y="1033272"/>
            <a:ext cx="7886700" cy="10245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18808" y="2099469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3006725"/>
            <a:ext cx="3868737" cy="3182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209946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3006725"/>
            <a:ext cx="3887788" cy="3182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3087BD15-8EC4-4859-8441-4B361B08C53D}" type="datetime1">
              <a:rPr lang="en-US" smtClean="0"/>
              <a:t>6/26/2026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xmlns="" id="{E5425750-DBEE-C9FA-18B0-C2B675CD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60551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160653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0" y="6479279"/>
            <a:ext cx="2057400" cy="365125"/>
          </a:xfrm>
          <a:prstGeom prst="rect">
            <a:avLst/>
          </a:prstGeom>
        </p:spPr>
        <p:txBody>
          <a:bodyPr/>
          <a:lstStyle/>
          <a:p>
            <a:fld id="{DB9CD66F-39BB-4206-A809-14CED26CA744}" type="datetime1">
              <a:rPr lang="en-US" smtClean="0"/>
              <a:t>6/26/2026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793138ED-5AEE-374B-DA65-577499AD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1443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86D25D0D-EF31-4530-9D89-AE3F619918A9}" type="datetime1">
              <a:rPr lang="en-US" smtClean="0"/>
              <a:t>6/26/2026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xmlns="" id="{C6E3F1F6-F4B3-5413-F4E6-750406273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0020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2869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EF359388-46AA-4B0F-925D-677914BD9B15}" type="datetime1">
              <a:rPr lang="en-US" smtClean="0"/>
              <a:t>6/26/2026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5FB1CCC7-B864-78A0-9F73-303C670C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85043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4698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4DD8B233-E4CE-43C8-99C2-AFE9ED71A887}" type="datetime1">
              <a:rPr lang="en-US" smtClean="0"/>
              <a:t>6/26/2026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230D5446-F2F2-0154-0DE9-748F5C6A5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1901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2790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2606039"/>
            <a:ext cx="7886700" cy="357092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8521"/>
            <a:ext cx="2057400" cy="365125"/>
          </a:xfrm>
          <a:prstGeom prst="rect">
            <a:avLst/>
          </a:prstGeom>
        </p:spPr>
        <p:txBody>
          <a:bodyPr/>
          <a:lstStyle/>
          <a:p>
            <a:fld id="{7F9AF166-A5E1-4829-A893-2E20E1862B05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CBE747CD-7B95-E158-1FF1-A9DC9118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21671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1152143"/>
            <a:ext cx="1971675" cy="502482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1152143"/>
            <a:ext cx="5762625" cy="502481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6946CF6E-A483-4D0A-997D-D6DFBCCE0472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02BFF0C1-3C6E-5090-459F-707F4031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53326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Название дисциплины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ФИО преподавателя</a:t>
            </a:r>
          </a:p>
          <a:p>
            <a:pPr lvl="0"/>
            <a:r>
              <a:rPr lang="ru-RU" dirty="0"/>
              <a:t>Электронная почта (укажите корпоративную почту)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DCB871D2-25B0-448C-80C6-D62A08D94E97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61450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43000" y="2057399"/>
            <a:ext cx="6858000" cy="1452563"/>
          </a:xfrm>
          <a:prstGeom prst="rect">
            <a:avLst/>
          </a:prstGeo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ru-RU" dirty="0"/>
              <a:t>Название темы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43000" y="1178878"/>
            <a:ext cx="6858000" cy="4670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Номер темы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DA0D15EA-F46C-4827-B7EA-97593F313E8E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93D961C8-81F0-CCE5-93CC-B19775D0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00565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6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523743"/>
            <a:ext cx="7886700" cy="36532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B4E48A99-5F05-4D77-81C7-5AA7E39ED88A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E1400F3A-7B5E-E986-3C8D-D7E3ED32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89861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3272"/>
            <a:ext cx="7886700" cy="121869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2414015"/>
            <a:ext cx="3867150" cy="37629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414015"/>
            <a:ext cx="3867150" cy="37629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40862930-79B4-4CB1-AFB3-68C345192A83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EF9E7562-4C64-9200-F7CF-81A74263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27468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8808" y="1033272"/>
            <a:ext cx="7886700" cy="10245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18808" y="2099469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3006725"/>
            <a:ext cx="3868737" cy="3182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209946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3006725"/>
            <a:ext cx="3887788" cy="3182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3087BD15-8EC4-4859-8441-4B361B08C53D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xmlns="" id="{E5425750-DBEE-C9FA-18B0-C2B675CD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24176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160653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0" y="6479279"/>
            <a:ext cx="2057400" cy="365125"/>
          </a:xfrm>
          <a:prstGeom prst="rect">
            <a:avLst/>
          </a:prstGeom>
        </p:spPr>
        <p:txBody>
          <a:bodyPr/>
          <a:lstStyle/>
          <a:p>
            <a:fld id="{DB9CD66F-39BB-4206-A809-14CED26CA744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793138ED-5AEE-374B-DA65-577499AD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65831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86D25D0D-EF31-4530-9D89-AE3F619918A9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xmlns="" id="{C6E3F1F6-F4B3-5413-F4E6-750406273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40310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2869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EF359388-46AA-4B0F-925D-677914BD9B15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5FB1CCC7-B864-78A0-9F73-303C670C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5698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4698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4DD8B233-E4CE-43C8-99C2-AFE9ED71A887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230D5446-F2F2-0154-0DE9-748F5C6A5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38815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2790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2606039"/>
            <a:ext cx="7886700" cy="357092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8521"/>
            <a:ext cx="2057400" cy="365125"/>
          </a:xfrm>
          <a:prstGeom prst="rect">
            <a:avLst/>
          </a:prstGeom>
        </p:spPr>
        <p:txBody>
          <a:bodyPr/>
          <a:lstStyle/>
          <a:p>
            <a:fld id="{7F9AF166-A5E1-4829-A893-2E20E1862B05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CBE747CD-7B95-E158-1FF1-A9DC9118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41906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1152143"/>
            <a:ext cx="1971675" cy="502482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1152143"/>
            <a:ext cx="5762625" cy="502481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6946CF6E-A483-4D0A-997D-D6DFBCCE0472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02BFF0C1-3C6E-5090-459F-707F4031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6868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1868556" y="48476"/>
            <a:ext cx="54068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sz="1600" b="1" dirty="0">
                <a:solidFill>
                  <a:srgbClr val="0070C0"/>
                </a:solidFill>
                <a:latin typeface="PT Sans"/>
              </a:rPr>
              <a:t>МИРЭА - Российский технологический университет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158656" y="79253"/>
            <a:ext cx="889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  <a:latin typeface="PT Sans"/>
              </a:rPr>
              <a:t>mirea.ru</a:t>
            </a:r>
            <a:endParaRPr lang="ru-RU" sz="1400" b="1" dirty="0">
              <a:solidFill>
                <a:srgbClr val="0070C0"/>
              </a:solidFill>
              <a:latin typeface="PT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" y="56596"/>
            <a:ext cx="870333" cy="96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840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2" r:id="rId2"/>
    <p:sldLayoutId id="2147483663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1868556" y="48476"/>
            <a:ext cx="54068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0070C0"/>
                </a:solidFill>
                <a:latin typeface="PT Sans"/>
              </a:rPr>
              <a:t>МИРЭА - Российский технологический университет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158656" y="79253"/>
            <a:ext cx="889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  <a:latin typeface="PT Sans"/>
              </a:rPr>
              <a:t>mirea.ru</a:t>
            </a:r>
            <a:endParaRPr lang="ru-RU" sz="1400" b="1" dirty="0">
              <a:solidFill>
                <a:srgbClr val="0070C0"/>
              </a:solidFill>
              <a:latin typeface="PT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" y="56596"/>
            <a:ext cx="870333" cy="96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884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8817D972-92EF-4EF6-BF83-B1D352536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977" y="1478829"/>
            <a:ext cx="8452735" cy="2852737"/>
          </a:xfrm>
        </p:spPr>
        <p:txBody>
          <a:bodyPr/>
          <a:lstStyle/>
          <a:p>
            <a:pPr algn="ctr"/>
            <a:r>
              <a:rPr lang="ru-RU" dirty="0">
                <a:latin typeface="Times New Roman" pitchFamily="18" charset="0"/>
                <a:cs typeface="Times New Roman" pitchFamily="18" charset="0"/>
              </a:rPr>
              <a:t>Сертификация и лицензирование беспилотных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4188374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92727" y="1884220"/>
            <a:ext cx="7758545" cy="3454400"/>
          </a:xfrm>
        </p:spPr>
        <p:txBody>
          <a:bodyPr/>
          <a:lstStyle/>
          <a:p>
            <a:pPr algn="l">
              <a:lnSpc>
                <a:spcPct val="100000"/>
              </a:lnSpc>
            </a:pP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ДИСЦИЛИНА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Сертификация и лицензирование беспилотных систем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ИНСТИТУТ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ИПТИП</a:t>
            </a: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КАФЕДРА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индустриального программирования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ВИД УЧЕБНОГО МАТЕРИАЛА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Практические занятия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ПРЕПОДАВАТЕЛЬ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Ризаева Юлия Николаевна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СЕМЕСТР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3, 2026-2027 уч. </a:t>
            </a:r>
            <a:r>
              <a:rPr lang="ru-RU" sz="1800">
                <a:latin typeface="Times New Roman" pitchFamily="18" charset="0"/>
                <a:cs typeface="Times New Roman" pitchFamily="18" charset="0"/>
              </a:rPr>
              <a:t>г.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2</a:t>
            </a:fld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2041237" y="855231"/>
            <a:ext cx="5562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prstClr val="black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Титульный лист материалов по дисциплине</a:t>
            </a:r>
            <a:br>
              <a:rPr lang="ru-RU" sz="2000" b="1" dirty="0">
                <a:solidFill>
                  <a:prstClr val="black"/>
                </a:solidFill>
                <a:latin typeface="Times New Roman" pitchFamily="18" charset="0"/>
                <a:ea typeface="+mj-ea"/>
                <a:cs typeface="Times New Roman" pitchFamily="18" charset="0"/>
              </a:rPr>
            </a:br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val="2263996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одзаголовок 10">
            <a:extLst>
              <a:ext uri="{FF2B5EF4-FFF2-40B4-BE49-F238E27FC236}">
                <a16:creationId xmlns:a16="http://schemas.microsoft.com/office/drawing/2014/main" xmlns="" id="{C1B65F80-40E4-4163-81DA-43F424C0AE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Практические занятия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6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A172C6BE-6279-1472-C916-7648D9F11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</a:t>
            </a:fld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544945" y="2542609"/>
            <a:ext cx="81002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Анализ </a:t>
            </a: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рисков и разработка мероприятий по их снижению </a:t>
            </a:r>
          </a:p>
        </p:txBody>
      </p:sp>
    </p:spTree>
    <p:extLst>
      <p:ext uri="{BB962C8B-B14F-4D97-AF65-F5344CB8AC3E}">
        <p14:creationId xmlns:p14="http://schemas.microsoft.com/office/powerpoint/2010/main" val="2250878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48220"/>
            <a:ext cx="8210550" cy="749308"/>
          </a:xfrm>
        </p:spPr>
        <p:txBody>
          <a:bodyPr/>
          <a:lstStyle/>
          <a:p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4. </a:t>
            </a: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Анализ рисков и разработка мероприятий по их снижению 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420832" y="1546073"/>
            <a:ext cx="8418368" cy="3653219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/>
                <a:ea typeface="Times New Roman"/>
              </a:rPr>
              <a:t>•	</a:t>
            </a:r>
            <a:r>
              <a:rPr lang="ru-RU" sz="2000" dirty="0" smtClean="0">
                <a:latin typeface="Times New Roman"/>
                <a:ea typeface="Times New Roman"/>
              </a:rPr>
              <a:t>Идентифицируйте </a:t>
            </a:r>
            <a:r>
              <a:rPr lang="ru-RU" sz="2000" dirty="0">
                <a:latin typeface="Times New Roman"/>
                <a:ea typeface="Times New Roman"/>
              </a:rPr>
              <a:t>потенциальные риски, связанные с процессом сертификации элементов ИТС.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/>
                <a:ea typeface="Times New Roman"/>
              </a:rPr>
              <a:t>•	Оцените вероятность возникновения и степень влияния каждого риска (высокая, средняя, низкая).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/>
                <a:ea typeface="Times New Roman"/>
              </a:rPr>
              <a:t>•	Разработайте мероприятия по снижению или устранению рисков</a:t>
            </a:r>
            <a:r>
              <a:rPr lang="ru-RU" sz="2000" dirty="0" smtClean="0">
                <a:latin typeface="Times New Roman"/>
                <a:ea typeface="Times New Roman"/>
              </a:rPr>
              <a:t>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000" dirty="0">
              <a:latin typeface="Times New Roman"/>
              <a:ea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 smtClean="0">
                <a:latin typeface="Times New Roman"/>
                <a:ea typeface="Times New Roman"/>
              </a:rPr>
              <a:t>Заполните таблицу.</a:t>
            </a:r>
            <a:endParaRPr lang="ru-RU" sz="2000" dirty="0">
              <a:latin typeface="Times New Roman"/>
              <a:ea typeface="Times New Roman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645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48220"/>
            <a:ext cx="8085858" cy="749308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Разработка стратегии сертификации 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5</a:t>
            </a:fld>
            <a:endParaRPr lang="ru-RU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6024087"/>
              </p:ext>
            </p:extLst>
          </p:nvPr>
        </p:nvGraphicFramePr>
        <p:xfrm>
          <a:off x="27712" y="1600200"/>
          <a:ext cx="9019305" cy="460166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32506"/>
                <a:gridCol w="2133600"/>
                <a:gridCol w="1524000"/>
                <a:gridCol w="2022764"/>
                <a:gridCol w="3006435"/>
              </a:tblGrid>
              <a:tr h="32420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№</a:t>
                      </a:r>
                      <a:endParaRPr lang="ru-RU" sz="14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55258" marR="35164" marT="35164" marB="3516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Риск</a:t>
                      </a:r>
                      <a:endParaRPr lang="ru-RU" sz="14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55258" marR="35164" marT="35164" marB="3516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Вероятность</a:t>
                      </a:r>
                      <a:endParaRPr lang="ru-RU" sz="14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55258" marR="35164" marT="35164" marB="3516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Степень влияния</a:t>
                      </a:r>
                      <a:endParaRPr lang="ru-RU" sz="14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55258" marR="35164" marT="35164" marB="3516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Мероприятия по снижению риска</a:t>
                      </a:r>
                      <a:endParaRPr lang="ru-RU" sz="14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55258" marR="35164" marT="35164" marB="35164" anchor="ctr"/>
                </a:tc>
              </a:tr>
              <a:tr h="95734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ru-RU" sz="14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35164" marR="35164" marT="35164" marB="3516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Задержка в получении сертификата</a:t>
                      </a:r>
                      <a:endParaRPr lang="ru-RU" sz="14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35164" marR="35164" marT="35164" marB="3516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Средняя</a:t>
                      </a:r>
                      <a:endParaRPr lang="ru-RU" sz="14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35164" marR="35164" marT="35164" marB="3516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Высокая</a:t>
                      </a:r>
                      <a:endParaRPr lang="ru-RU" sz="14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35164" marR="35164" marT="35164" marB="3516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Предварительное согласование технической документации с органом по сертификации, резервирование времени на сертификацию</a:t>
                      </a:r>
                      <a:endParaRPr lang="ru-RU" sz="14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35164" marR="35164" marT="35164" marB="35164" anchor="ctr"/>
                </a:tc>
              </a:tr>
              <a:tr h="98367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ru-RU" sz="14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35164" marR="35164" marT="35164" marB="3516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Несоответствие элемента требованиям</a:t>
                      </a:r>
                      <a:endParaRPr lang="ru-RU" sz="14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35164" marR="35164" marT="35164" marB="3516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Низкая</a:t>
                      </a:r>
                      <a:endParaRPr lang="ru-RU" sz="14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35164" marR="35164" marT="35164" marB="3516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Высокая</a:t>
                      </a:r>
                      <a:endParaRPr lang="ru-RU" sz="14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35164" marR="35164" marT="35164" marB="3516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Проведение предварительных испытаний, тщательный выбор поставщиков элементов ИТС, контроль качества на этапе разработки</a:t>
                      </a:r>
                      <a:endParaRPr lang="ru-RU" sz="14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35164" marR="35164" marT="35164" marB="35164" anchor="ctr"/>
                </a:tc>
              </a:tr>
              <a:tr h="84512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ru-RU" sz="14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35164" marR="35164" marT="35164" marB="3516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Высокие затраты на сертификацию</a:t>
                      </a:r>
                      <a:endParaRPr lang="ru-RU" sz="14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35164" marR="35164" marT="35164" marB="3516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Средняя</a:t>
                      </a:r>
                      <a:endParaRPr lang="ru-RU" sz="14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35164" marR="35164" marT="35164" marB="3516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Средняя</a:t>
                      </a:r>
                      <a:endParaRPr lang="ru-RU" sz="14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35164" marR="35164" marT="35164" marB="3516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Поиск оптимальных предложений от органов по сертификации, оптимизация затрат на подготовку документации</a:t>
                      </a:r>
                      <a:endParaRPr lang="ru-RU" sz="14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35164" marR="35164" marT="35164" marB="35164" anchor="ctr"/>
                </a:tc>
              </a:tr>
              <a:tr h="73429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ru-RU" sz="14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35164" marR="35164" marT="35164" marB="3516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Изменение требований нормативных документов</a:t>
                      </a:r>
                      <a:endParaRPr lang="ru-RU" sz="14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35164" marR="35164" marT="35164" marB="3516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Низкая</a:t>
                      </a:r>
                      <a:endParaRPr lang="ru-RU" sz="14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35164" marR="35164" marT="35164" marB="3516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Высокая</a:t>
                      </a:r>
                      <a:endParaRPr lang="ru-RU" sz="14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35164" marR="35164" marT="35164" marB="3516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Мониторинг изменений в нормативной базе, консультации с экспертами</a:t>
                      </a:r>
                      <a:endParaRPr lang="ru-RU" sz="14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35164" marR="35164" marT="35164" marB="35164" anchor="ctr"/>
                </a:tc>
              </a:tr>
              <a:tr h="20112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ru-RU" sz="14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35164" marR="35164" marT="35164" marB="3516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…</a:t>
                      </a:r>
                      <a:endParaRPr lang="ru-RU" sz="14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35164" marR="35164" marT="35164" marB="3516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…</a:t>
                      </a:r>
                      <a:endParaRPr lang="ru-RU" sz="14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35164" marR="35164" marT="35164" marB="3516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…</a:t>
                      </a:r>
                      <a:endParaRPr lang="ru-RU" sz="14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35164" marR="35164" marT="35164" marB="3516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…</a:t>
                      </a:r>
                      <a:endParaRPr lang="ru-RU" sz="14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35164" marR="35164" marT="35164" marB="35164" anchor="ctr"/>
                </a:tc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836906" y="1008360"/>
            <a:ext cx="530709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600" i="0" u="none" strike="noStrike" cap="none" normalizeH="0" baseline="0" dirty="0" smtClean="0">
                <a:ln>
                  <a:noFill/>
                </a:ln>
                <a:solidFill>
                  <a:srgbClr val="494949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Таблица 4. Анализ рисков и мероприятия по их снижению</a:t>
            </a:r>
            <a:endParaRPr kumimoji="0" lang="ru-RU" sz="24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7705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E5BE26A0-0BD0-4F5C-8BB0-203795747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832284"/>
            <a:ext cx="7886700" cy="2852737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159761912"/>
      </p:ext>
    </p:extLst>
  </p:cSld>
  <p:clrMapOvr>
    <a:masterClrMapping/>
  </p:clrMapOvr>
</p:sld>
</file>

<file path=ppt/theme/theme1.xml><?xml version="1.0" encoding="utf-8"?>
<a:theme xmlns:a="http://schemas.openxmlformats.org/drawingml/2006/main" name="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3743</TotalTime>
  <Words>150</Words>
  <Application>Microsoft Office PowerPoint</Application>
  <PresentationFormat>Экран (4:3)</PresentationFormat>
  <Paragraphs>48</Paragraphs>
  <Slides>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2</vt:i4>
      </vt:variant>
      <vt:variant>
        <vt:lpstr>Заголовки слайдов</vt:lpstr>
      </vt:variant>
      <vt:variant>
        <vt:i4>6</vt:i4>
      </vt:variant>
    </vt:vector>
  </HeadingPairs>
  <TitlesOfParts>
    <vt:vector size="8" baseType="lpstr">
      <vt:lpstr>Специальное оформление</vt:lpstr>
      <vt:lpstr>1_Специальное оформление</vt:lpstr>
      <vt:lpstr>Сертификация и лицензирование беспилотных систем</vt:lpstr>
      <vt:lpstr>ДИСЦИЛИНА Сертификация и лицензирование беспилотных систем  ИНСТИТУТ ИПТИП  КАФЕДРА индустриального программирования  ВИД УЧЕБНОГО МАТЕРИАЛА Практические занятия  ПРЕПОДАВАТЕЛЬ Ризаева Юлия Николаевна  СЕМЕСТР 3, 2026-2027 уч. г.</vt:lpstr>
      <vt:lpstr>Презентация PowerPoint</vt:lpstr>
      <vt:lpstr>4. Анализ рисков и разработка мероприятий по их снижению </vt:lpstr>
      <vt:lpstr>Разработка стратегии сертификации </vt:lpstr>
      <vt:lpstr>Спасибо за внимание!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Я</dc:creator>
  <cp:lastModifiedBy>Аня</cp:lastModifiedBy>
  <cp:revision>247</cp:revision>
  <dcterms:created xsi:type="dcterms:W3CDTF">2015-07-29T11:14:37Z</dcterms:created>
  <dcterms:modified xsi:type="dcterms:W3CDTF">2026-06-26T20:21:21Z</dcterms:modified>
</cp:coreProperties>
</file>