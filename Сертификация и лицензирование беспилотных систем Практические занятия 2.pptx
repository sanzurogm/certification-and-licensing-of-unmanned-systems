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1" r:id="rId1"/>
    <p:sldMasterId id="2147483673" r:id="rId2"/>
  </p:sldMasterIdLst>
  <p:notesMasterIdLst>
    <p:notesMasterId r:id="rId9"/>
  </p:notesMasterIdLst>
  <p:sldIdLst>
    <p:sldId id="274" r:id="rId3"/>
    <p:sldId id="325" r:id="rId4"/>
    <p:sldId id="293" r:id="rId5"/>
    <p:sldId id="326" r:id="rId6"/>
    <p:sldId id="327" r:id="rId7"/>
    <p:sldId id="264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82C1"/>
    <a:srgbClr val="295CA8"/>
    <a:srgbClr val="C60A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808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-195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C9240-0B00-47F5-8315-EA25A5DD21D4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FE969A-3B85-41F0-B329-9B9FD47284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5821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50127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5662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9360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8025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/>
              <a:t>6/26/2026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="" xmlns:a16="http://schemas.microsoft.com/office/drawing/2014/main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0551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/>
              <a:t>6/26/2026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1443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/>
              <a:t>6/26/2026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5">
            <a:extLst>
              <a:ext uri="{FF2B5EF4-FFF2-40B4-BE49-F238E27FC236}">
                <a16:creationId xmlns="" xmlns:a16="http://schemas.microsoft.com/office/drawing/2014/main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002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5043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1901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1671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5332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1450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056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89861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27468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10" name="Номер слайда 5">
            <a:extLst>
              <a:ext uri="{FF2B5EF4-FFF2-40B4-BE49-F238E27FC236}">
                <a16:creationId xmlns="" xmlns:a16="http://schemas.microsoft.com/office/drawing/2014/main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24176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5831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омер слайда 5">
            <a:extLst>
              <a:ext uri="{FF2B5EF4-FFF2-40B4-BE49-F238E27FC236}">
                <a16:creationId xmlns="" xmlns:a16="http://schemas.microsoft.com/office/drawing/2014/main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40310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5698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38815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41906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6868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840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2" r:id="rId2"/>
    <p:sldLayoutId id="2147483663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884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8817D972-92EF-4EF6-BF83-B1D352536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977" y="1478829"/>
            <a:ext cx="8452735" cy="2852737"/>
          </a:xfrm>
        </p:spPr>
        <p:txBody>
          <a:bodyPr/>
          <a:lstStyle/>
          <a:p>
            <a:pPr algn="ctr"/>
            <a:r>
              <a:rPr lang="ru-RU" dirty="0">
                <a:latin typeface="Times New Roman" pitchFamily="18" charset="0"/>
                <a:cs typeface="Times New Roman" pitchFamily="18" charset="0"/>
              </a:rPr>
              <a:t>Сертификация и лицензирование беспилотных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4188374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92727" y="1884220"/>
            <a:ext cx="7758545" cy="3454400"/>
          </a:xfrm>
        </p:spPr>
        <p:txBody>
          <a:bodyPr/>
          <a:lstStyle/>
          <a:p>
            <a:pPr algn="l">
              <a:lnSpc>
                <a:spcPct val="100000"/>
              </a:lnSpc>
            </a:pP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ДИСЦИЛИНА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Сертификация и лицензирование беспилотных систем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ИНСТИТУТ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ИПТИП</a:t>
            </a: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КАФЕДРА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индустриального программирования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ВИД УЧЕБНОГО МАТЕРИАЛА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Практические занятия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ПРЕПОДАВАТЕЛЬ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Ризаева Юлия Николаевна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СЕМЕСТР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3, 2026-2027 уч. </a:t>
            </a:r>
            <a:r>
              <a:rPr lang="ru-RU" sz="1800">
                <a:latin typeface="Times New Roman" pitchFamily="18" charset="0"/>
                <a:cs typeface="Times New Roman" pitchFamily="18" charset="0"/>
              </a:rPr>
              <a:t>г.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041237" y="855231"/>
            <a:ext cx="5562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Титульный лист материалов по дисциплине</a:t>
            </a:r>
            <a:b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</a:b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2263996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дзаголовок 10">
            <a:extLst>
              <a:ext uri="{FF2B5EF4-FFF2-40B4-BE49-F238E27FC236}">
                <a16:creationId xmlns="" xmlns:a16="http://schemas.microsoft.com/office/drawing/2014/main" id="{C1B65F80-40E4-4163-81DA-43F424C0AE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Практические занятия 2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A172C6BE-6279-1472-C916-7648D9F11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</a:t>
            </a:fld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544945" y="1851891"/>
            <a:ext cx="810029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Нормативная база, регулирующая 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сертификацию и лицензирование элементов ИТС в России</a:t>
            </a:r>
          </a:p>
        </p:txBody>
      </p:sp>
    </p:spTree>
    <p:extLst>
      <p:ext uri="{BB962C8B-B14F-4D97-AF65-F5344CB8AC3E}">
        <p14:creationId xmlns:p14="http://schemas.microsoft.com/office/powerpoint/2010/main" val="2250878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48220"/>
            <a:ext cx="7886700" cy="749308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Анализ нормативной базы 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20832" y="1365964"/>
            <a:ext cx="8418368" cy="3653219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•	Изучите нормативную базу, регулирующую сертификацию и лицензирование элементов ИТС в России.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•	Определите, какие элементы ИТС, используемые в БНТС </a:t>
            </a:r>
            <a:r>
              <a:rPr lang="ru-RU" sz="2000" dirty="0" smtClean="0">
                <a:latin typeface="Times New Roman"/>
                <a:ea typeface="Times New Roman"/>
              </a:rPr>
              <a:t>организации, </a:t>
            </a:r>
            <a:r>
              <a:rPr lang="ru-RU" sz="2000" dirty="0">
                <a:latin typeface="Times New Roman"/>
                <a:ea typeface="Times New Roman"/>
              </a:rPr>
              <a:t>подлежат обязательной сертификации и/или лицензированию.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•	Составьте перечень нормативных документов, соответствие которым необходимо подтвердить при сертификации каждого элемента.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645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48220"/>
            <a:ext cx="7886700" cy="749308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Анализ нормативной базы 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5</a:t>
            </a:fld>
            <a:endParaRPr lang="ru-RU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1881858"/>
              </p:ext>
            </p:extLst>
          </p:nvPr>
        </p:nvGraphicFramePr>
        <p:xfrm>
          <a:off x="96980" y="1177720"/>
          <a:ext cx="8922328" cy="552362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6365"/>
                <a:gridCol w="1343891"/>
                <a:gridCol w="1357746"/>
                <a:gridCol w="5874326"/>
              </a:tblGrid>
              <a:tr h="2299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№</a:t>
                      </a:r>
                      <a:endParaRPr lang="ru-RU" sz="12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0476" marR="25758" marT="25758" marB="257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Элемент ИТС</a:t>
                      </a:r>
                      <a:endParaRPr lang="ru-RU" sz="12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0476" marR="25758" marT="25758" marB="257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Требуется ли сертификация</a:t>
                      </a:r>
                      <a:endParaRPr lang="ru-RU" sz="12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0476" marR="25758" marT="25758" marB="257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Нормативные документы</a:t>
                      </a:r>
                      <a:endParaRPr lang="ru-RU" sz="12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0476" marR="25758" marT="25758" marB="25758" anchor="ctr"/>
                </a:tc>
              </a:tr>
              <a:tr h="73229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ru-RU" sz="12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25758" marR="25758" marT="25758" marB="257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Лидар</a:t>
                      </a:r>
                      <a:endParaRPr lang="ru-RU" sz="12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25758" marR="25758" marT="25758" marB="257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Нет</a:t>
                      </a:r>
                      <a:endParaRPr lang="ru-RU" sz="12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25758" marR="25758" marT="25758" marB="257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На </a:t>
                      </a:r>
                      <a:r>
                        <a:rPr lang="ru-RU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данный момент прямых требований нет, но может потребоваться соответствие общим требованиям безопасности электронного </a:t>
                      </a:r>
                      <a:r>
                        <a:rPr lang="ru-RU" sz="14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оборудования</a:t>
                      </a:r>
                      <a:endParaRPr lang="ru-RU" sz="12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25758" marR="25758" marT="25758" marB="25758" anchor="ctr"/>
                </a:tc>
              </a:tr>
              <a:tr h="2299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ru-RU" sz="12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25758" marR="25758" marT="25758" marB="257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Радар</a:t>
                      </a:r>
                      <a:endParaRPr lang="ru-RU" sz="12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25758" marR="25758" marT="25758" marB="257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Нет</a:t>
                      </a:r>
                      <a:endParaRPr lang="ru-RU" sz="12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25758" marR="25758" marT="25758" marB="257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Аналогично </a:t>
                      </a:r>
                      <a:r>
                        <a:rPr lang="ru-RU" sz="1400" dirty="0" err="1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лидару</a:t>
                      </a:r>
                      <a:endParaRPr lang="ru-RU" sz="12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25758" marR="25758" marT="25758" marB="25758" anchor="ctr"/>
                </a:tc>
              </a:tr>
              <a:tr h="2299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ru-RU" sz="12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25758" marR="25758" marT="25758" marB="257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Камера (стереопара)</a:t>
                      </a:r>
                      <a:endParaRPr lang="ru-RU" sz="12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25758" marR="25758" marT="25758" marB="257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Нет</a:t>
                      </a:r>
                      <a:endParaRPr lang="ru-RU" sz="12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25758" marR="25758" marT="25758" marB="257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Аналогично </a:t>
                      </a:r>
                      <a:r>
                        <a:rPr lang="ru-RU" sz="1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лидару</a:t>
                      </a:r>
                      <a:r>
                        <a:rPr lang="ru-RU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и </a:t>
                      </a:r>
                      <a:r>
                        <a:rPr lang="ru-RU" sz="14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радару</a:t>
                      </a:r>
                      <a:endParaRPr lang="ru-RU" sz="12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25758" marR="25758" marT="25758" marB="25758" anchor="ctr"/>
                </a:tc>
              </a:tr>
              <a:tr h="5936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ru-RU" sz="12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25758" marR="25758" marT="25758" marB="257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GPS/ГЛОНАСС</a:t>
                      </a:r>
                      <a:endParaRPr lang="ru-RU" sz="12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25758" marR="25758" marT="25758" marB="257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Нет</a:t>
                      </a:r>
                      <a:endParaRPr lang="ru-RU" sz="12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25758" marR="25758" marT="25758" marB="257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Сертификация </a:t>
                      </a:r>
                      <a:r>
                        <a:rPr lang="ru-RU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не требуется для навигационного оборудования, используемого в коммерческих </a:t>
                      </a:r>
                      <a:r>
                        <a:rPr lang="ru-RU" sz="14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целях</a:t>
                      </a:r>
                      <a:endParaRPr lang="ru-RU" sz="12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25758" marR="25758" marT="25758" marB="25758" anchor="ctr"/>
                </a:tc>
              </a:tr>
              <a:tr h="58189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ru-RU" sz="12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25758" marR="25758" marT="25758" marB="257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Радиомодем (4G/5G)</a:t>
                      </a:r>
                      <a:endParaRPr lang="ru-RU" sz="12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25758" marR="25758" marT="25758" marB="257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Да</a:t>
                      </a:r>
                      <a:endParaRPr lang="ru-RU" sz="12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25758" marR="25758" marT="25758" marB="257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Федеральный закон "О связи", Приказ Минкомсвязи №246 (правила применения оборудования радиосвязи)</a:t>
                      </a:r>
                      <a:endParaRPr lang="ru-RU" sz="12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25758" marR="25758" marT="25758" marB="25758" anchor="ctr"/>
                </a:tc>
              </a:tr>
              <a:tr h="114992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2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25758" marR="25758" marT="25758" marB="257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Светофор с поддержкой V2I</a:t>
                      </a:r>
                      <a:endParaRPr lang="ru-RU" sz="12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25758" marR="25758" marT="25758" marB="257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Да</a:t>
                      </a:r>
                      <a:endParaRPr lang="ru-RU" sz="12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25758" marR="25758" marT="25758" marB="257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ТР ТС 014/2011 "Безопасность автомобильных дорог", ГОСТ Р 52289-2019 "Технические средства организации дорожного движения. Правила применения дорожных знаков, разметки, светофоров, дорожных ограждений и направляющих устройств"</a:t>
                      </a:r>
                      <a:endParaRPr lang="ru-RU" sz="12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25758" marR="25758" marT="25758" marB="25758" anchor="ctr"/>
                </a:tc>
              </a:tr>
              <a:tr h="77551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lang="ru-RU" sz="12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25758" marR="25758" marT="25758" marB="257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Дорожный знак с изменяющейся информацией</a:t>
                      </a:r>
                      <a:endParaRPr lang="ru-RU" sz="12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25758" marR="25758" marT="25758" marB="257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Да</a:t>
                      </a:r>
                      <a:endParaRPr lang="ru-RU" sz="12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25758" marR="25758" marT="25758" marB="257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ТР ТС 014/2011 "Безопасность автомобильных дорог", ГОСТ Р 52290-2004 "Знаки дорожные. Общие технические требования"</a:t>
                      </a:r>
                      <a:endParaRPr lang="ru-RU" sz="12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25758" marR="25758" marT="25758" marB="25758" anchor="ctr"/>
                </a:tc>
              </a:tr>
              <a:tr h="15794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25758" marR="25758" marT="25758" marB="257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…</a:t>
                      </a:r>
                      <a:endParaRPr lang="ru-RU" sz="12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25758" marR="25758" marT="25758" marB="257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…</a:t>
                      </a:r>
                      <a:endParaRPr lang="ru-RU" sz="12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25758" marR="25758" marT="25758" marB="257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…</a:t>
                      </a:r>
                      <a:endParaRPr lang="ru-RU" sz="12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25758" marR="25758" marT="25758" marB="25758" anchor="ctr"/>
                </a:tc>
              </a:tr>
            </a:tbl>
          </a:graphicData>
        </a:graphic>
      </p:graphicFrame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2884952" y="760178"/>
            <a:ext cx="581030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i="0" u="none" strike="noStrike" cap="none" normalizeH="0" baseline="0" dirty="0" smtClean="0">
                <a:ln>
                  <a:noFill/>
                </a:ln>
                <a:solidFill>
                  <a:srgbClr val="494949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Таблица 2: Нормативная база для сертификации элементов ИТС</a:t>
            </a:r>
            <a:endParaRPr kumimoji="0" lang="ru-RU" sz="24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7705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E5BE26A0-0BD0-4F5C-8BB0-203795747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832284"/>
            <a:ext cx="7886700" cy="2852737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159761912"/>
      </p:ext>
    </p:extLst>
  </p:cSld>
  <p:clrMapOvr>
    <a:masterClrMapping/>
  </p:clrMapOvr>
</p:sld>
</file>

<file path=ppt/theme/theme1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3718</TotalTime>
  <Words>201</Words>
  <Application>Microsoft Office PowerPoint</Application>
  <PresentationFormat>Экран (4:3)</PresentationFormat>
  <Paragraphs>52</Paragraphs>
  <Slides>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6</vt:i4>
      </vt:variant>
    </vt:vector>
  </HeadingPairs>
  <TitlesOfParts>
    <vt:vector size="8" baseType="lpstr">
      <vt:lpstr>Специальное оформление</vt:lpstr>
      <vt:lpstr>1_Специальное оформление</vt:lpstr>
      <vt:lpstr>Сертификация и лицензирование беспилотных систем</vt:lpstr>
      <vt:lpstr>ДИСЦИЛИНА Сертификация и лицензирование беспилотных систем  ИНСТИТУТ ИПТИП  КАФЕДРА индустриального программирования  ВИД УЧЕБНОГО МАТЕРИАЛА Практические занятия  ПРЕПОДАВАТЕЛЬ Ризаева Юлия Николаевна  СЕМЕСТР 3, 2026-2027 уч. г.</vt:lpstr>
      <vt:lpstr>Презентация PowerPoint</vt:lpstr>
      <vt:lpstr>Анализ нормативной базы </vt:lpstr>
      <vt:lpstr>Анализ нормативной базы </vt:lpstr>
      <vt:lpstr>Спасибо за внимание!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Я</dc:creator>
  <cp:lastModifiedBy>Аня</cp:lastModifiedBy>
  <cp:revision>240</cp:revision>
  <dcterms:created xsi:type="dcterms:W3CDTF">2015-07-29T11:14:37Z</dcterms:created>
  <dcterms:modified xsi:type="dcterms:W3CDTF">2026-06-26T20:12:12Z</dcterms:modified>
</cp:coreProperties>
</file>