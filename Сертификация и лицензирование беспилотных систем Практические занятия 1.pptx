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30"/>
  </p:notesMasterIdLst>
  <p:sldIdLst>
    <p:sldId id="274" r:id="rId3"/>
    <p:sldId id="325" r:id="rId4"/>
    <p:sldId id="293" r:id="rId5"/>
    <p:sldId id="326" r:id="rId6"/>
    <p:sldId id="330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31" r:id="rId25"/>
    <p:sldId id="327" r:id="rId26"/>
    <p:sldId id="328" r:id="rId27"/>
    <p:sldId id="329" r:id="rId28"/>
    <p:sldId id="26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1851891"/>
            <a:ext cx="81002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4000" smtClean="0">
                <a:latin typeface="Times New Roman" pitchFamily="18" charset="0"/>
                <a:cs typeface="Times New Roman" pitchFamily="18" charset="0"/>
              </a:rPr>
              <a:t>элементов интеллектуальных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транспортных систем (ИТС) и их применение в беспилотных системах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58140" y="622874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НОРМАТИВНО-ПРАВОВЫЕ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АКТЫ</a:t>
            </a:r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839711"/>
              </p:ext>
            </p:extLst>
          </p:nvPr>
        </p:nvGraphicFramePr>
        <p:xfrm>
          <a:off x="0" y="2294515"/>
          <a:ext cx="8944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2420"/>
                <a:gridCol w="44724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СЕРТИФИКАЦИЯ</a:t>
                      </a:r>
                      <a:endParaRPr lang="ru-RU" sz="3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ЛИЦЕНЗИРОВАНИЕ</a:t>
                      </a:r>
                      <a:endParaRPr lang="ru-RU" sz="3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Федеральный закон от </a:t>
                      </a:r>
                    </a:p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27.12.2002 № 184-ФЗ</a:t>
                      </a:r>
                    </a:p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«О техническом регулировании»</a:t>
                      </a:r>
                      <a:endParaRPr lang="ru-RU" sz="3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Федеральный закон от</a:t>
                      </a:r>
                    </a:p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04.05.2011 № 99-ФЗ</a:t>
                      </a:r>
                    </a:p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«О лицензировании отдельных</a:t>
                      </a:r>
                    </a:p>
                    <a:p>
                      <a:pPr algn="ctr"/>
                      <a:r>
                        <a:rPr lang="ru-RU" sz="3200" dirty="0" smtClean="0">
                          <a:latin typeface="Times New Roman" pitchFamily="18" charset="0"/>
                          <a:cs typeface="Times New Roman" pitchFamily="18" charset="0"/>
                        </a:rPr>
                        <a:t>видов деятельности»</a:t>
                      </a:r>
                      <a:endParaRPr lang="ru-RU" sz="3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Цель и предмет </a:t>
            </a:r>
            <a:r>
              <a:rPr lang="ru-RU" sz="2000" b="1" dirty="0" smtClean="0">
                <a:latin typeface="Times New Roman"/>
                <a:ea typeface="Times New Roman"/>
              </a:rPr>
              <a:t>нормы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Закон устанавливает правовые, экономические и организационные основы единой системы технического регулирования в России.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Цель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защита жизни, здоровья людей, имущества, охрана окружающей среды, обеспечение безопасности продукции и предотвращение действий, вводящих потребителя в заблуждение.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19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Область </a:t>
            </a:r>
            <a:r>
              <a:rPr lang="ru-RU" sz="2000" b="1" dirty="0" smtClean="0">
                <a:latin typeface="Times New Roman"/>
                <a:ea typeface="Times New Roman"/>
              </a:rPr>
              <a:t>применения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Закон </a:t>
            </a:r>
            <a:r>
              <a:rPr lang="ru-RU" sz="2000" dirty="0">
                <a:latin typeface="Times New Roman"/>
                <a:ea typeface="Times New Roman"/>
              </a:rPr>
              <a:t>распространяется на отношения, связанные с разработкой, принятием и применением технических регламентов, процедур оценки соответствия, метрологических требований, стандартизации и государственного контроля (надзора) в области соблюдения обязательных требований.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94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Ключевые </a:t>
            </a:r>
            <a:r>
              <a:rPr lang="ru-RU" sz="2000" b="1" dirty="0" smtClean="0">
                <a:latin typeface="Times New Roman"/>
                <a:ea typeface="Times New Roman"/>
              </a:rPr>
              <a:t>определения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Технический регламент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документ, устанавливающий обязательные для исполнения требования к продукции (работам, услугам) по безопасности и иным существенным требованиям.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Оценка (подтверждение) соответствия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процедуры (сертификация, декларирование и пр.), направленные на установление соответствия продукции требованиям технических регламентов.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Производитель, изготовитель, поставщик, импортёр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субъекты, несущие обязанности по обеспечению соответствия продукции требованиям.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Объекты регулирования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продукция, процессы, услуги, правила производства, обращения и утилизации, по которым приняты соответствующие </a:t>
            </a:r>
            <a:r>
              <a:rPr lang="ru-RU" sz="2000" dirty="0" err="1">
                <a:latin typeface="Times New Roman"/>
                <a:ea typeface="Times New Roman"/>
              </a:rPr>
              <a:t>техрегламенты</a:t>
            </a:r>
            <a:r>
              <a:rPr lang="ru-RU" sz="2000" dirty="0"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11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Технические </a:t>
            </a:r>
            <a:r>
              <a:rPr lang="ru-RU" sz="2000" b="1" dirty="0" smtClean="0">
                <a:latin typeface="Times New Roman"/>
                <a:ea typeface="Times New Roman"/>
              </a:rPr>
              <a:t>регламенты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Утверждаются федеральными органами исполнительной власти в порядке, установленном законом. </a:t>
            </a:r>
            <a:r>
              <a:rPr lang="ru-RU" sz="2000" dirty="0" err="1">
                <a:latin typeface="Times New Roman"/>
                <a:ea typeface="Times New Roman"/>
              </a:rPr>
              <a:t>Техрегламенты</a:t>
            </a:r>
            <a:r>
              <a:rPr lang="ru-RU" sz="2000" dirty="0">
                <a:latin typeface="Times New Roman"/>
                <a:ea typeface="Times New Roman"/>
              </a:rPr>
              <a:t> имеют обязательную силу в части установленных в них требований.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Содержание </a:t>
            </a:r>
            <a:r>
              <a:rPr lang="ru-RU" sz="2000" dirty="0" err="1">
                <a:latin typeface="Times New Roman"/>
                <a:ea typeface="Times New Roman"/>
              </a:rPr>
              <a:t>техрегламента</a:t>
            </a:r>
            <a:r>
              <a:rPr lang="ru-RU" sz="2000" dirty="0">
                <a:latin typeface="Times New Roman"/>
                <a:ea typeface="Times New Roman"/>
              </a:rPr>
              <a:t> включает область применения, термины, обязательные требования к безопасности, методы контроля и требования по доказательству соответствия.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err="1">
                <a:latin typeface="Times New Roman"/>
                <a:ea typeface="Times New Roman"/>
              </a:rPr>
              <a:t>Техрегламенты</a:t>
            </a:r>
            <a:r>
              <a:rPr lang="ru-RU" sz="2000" dirty="0">
                <a:latin typeface="Times New Roman"/>
                <a:ea typeface="Times New Roman"/>
              </a:rPr>
              <a:t> заменяют обязательные технические условия и стандарты там, где они введены.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05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Стандарты и их </a:t>
            </a:r>
            <a:r>
              <a:rPr lang="ru-RU" sz="2000" b="1" dirty="0" smtClean="0">
                <a:latin typeface="Times New Roman"/>
                <a:ea typeface="Times New Roman"/>
              </a:rPr>
              <a:t>статус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Национальные стандарты (ГОСТы и др.)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в общем случае носят добровольный характер, если иное прямо не установлено </a:t>
            </a:r>
            <a:r>
              <a:rPr lang="ru-RU" sz="2000" dirty="0" err="1">
                <a:latin typeface="Times New Roman"/>
                <a:ea typeface="Times New Roman"/>
              </a:rPr>
              <a:t>техрегламентом</a:t>
            </a:r>
            <a:r>
              <a:rPr lang="ru-RU" sz="2000" dirty="0">
                <a:latin typeface="Times New Roman"/>
                <a:ea typeface="Times New Roman"/>
              </a:rPr>
              <a:t> или иным нормативным актом.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Стандарт может быть признан обязательным при ссылке на него в техническом регламенте либо при иных правовых основаниях, предусмотренных законом.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73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/>
                <a:ea typeface="Times New Roman"/>
              </a:rPr>
              <a:t>Процедуры </a:t>
            </a:r>
            <a:r>
              <a:rPr lang="ru-RU" sz="2000" b="1" dirty="0">
                <a:latin typeface="Times New Roman"/>
                <a:ea typeface="Times New Roman"/>
              </a:rPr>
              <a:t>оценки (подтверждения) соответствия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Установлены различные формы подтверждения соответствия: сертификация, декларирование соответствия и иные процедуры.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Порядок, органы и объём доказательств для каждой процедуры определяются техническим регламентом или специальными актами.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Задача подтверждения соответствия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документально доказать соответствие продукции обязательным требованиям до её выпуска на рынок или обращения.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1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Аккредитация органов по оценке </a:t>
            </a:r>
            <a:r>
              <a:rPr lang="ru-RU" sz="2000" b="1" dirty="0" smtClean="0">
                <a:latin typeface="Times New Roman"/>
                <a:ea typeface="Times New Roman"/>
              </a:rPr>
              <a:t>соответствия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Организации, уполномоченные выполнять оценку соответствия (сертификационные органы, испытательные лаборатории и пр.), подлежат аккредитации в порядке, определяемом федеральным органом.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Аккредитация подтверждает компетентность и даёт право оформлять официальные документы о соответствии.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10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Маркировка и документы о </a:t>
            </a:r>
            <a:r>
              <a:rPr lang="ru-RU" sz="2000" b="1" dirty="0" smtClean="0">
                <a:latin typeface="Times New Roman"/>
                <a:ea typeface="Times New Roman"/>
              </a:rPr>
              <a:t>соответствии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По результатам оценки соответствия оформляются сертификаты соответствия, декларации и иные документы.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При необходимости продукция подлежит маркировке или нанесению знака соответствия (в объёме и формате, установленном нормативно).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90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 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27.12.2002 № 184-ФЗ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техническом регулировании»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0327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Ответственность за нарушение </a:t>
            </a:r>
            <a:r>
              <a:rPr lang="ru-RU" sz="2000" b="1" dirty="0" smtClean="0">
                <a:latin typeface="Times New Roman"/>
                <a:ea typeface="Times New Roman"/>
              </a:rPr>
              <a:t>требований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Предусмотрена ответственность хозяйствующих субъектов (административная, в ряде случаев гражданско‑правовая и иная) за несоответствие продукции обязательным требованиям, отсутствие декларации/сертификата и т. п.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Меры могут включать штрафы, запрет на реализацию, изъятие продукции, а также устранение нарушений.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46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7113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Цель и область </a:t>
            </a:r>
            <a:r>
              <a:rPr lang="ru-RU" sz="2000" b="1" dirty="0" smtClean="0">
                <a:latin typeface="Times New Roman"/>
                <a:ea typeface="Times New Roman"/>
              </a:rPr>
              <a:t>применения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Закон устанавливает общие принципы и порядок лицензирования отдельных видов деятельности, которые оказывают существенное влияние на безопасность граждан, имущество, окружающую среду и общественные интересы.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Применяется ко всем федеральным правоотношениям, связанным с выдачей, приостановлением, возобновлением и аннулированием лицензий.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0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7113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Основные </a:t>
            </a:r>
            <a:r>
              <a:rPr lang="ru-RU" sz="2000" b="1" dirty="0" smtClean="0">
                <a:latin typeface="Times New Roman"/>
                <a:ea typeface="Times New Roman"/>
              </a:rPr>
              <a:t>понятия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Лицензия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документ, дающий право на осуществление конкретного вида деятельности в установленном объёме и на соответствующих условиях.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Лицензируемый вид деятельности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вид деятельности, подлежащий обязательному лицензированию в соответствии с федеральными законами и нормативными актами.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Лицензиат</a:t>
            </a:r>
            <a:r>
              <a:rPr lang="ru-RU" sz="2000" dirty="0">
                <a:latin typeface="Times New Roman"/>
                <a:ea typeface="Times New Roman"/>
              </a:rPr>
              <a:t> (правообладатель лицензии), заявитель, уполномоченный орган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ключевые участники процесса.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7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7113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Принципы </a:t>
            </a:r>
            <a:r>
              <a:rPr lang="ru-RU" sz="2000" b="1" dirty="0" smtClean="0">
                <a:latin typeface="Times New Roman"/>
                <a:ea typeface="Times New Roman"/>
              </a:rPr>
              <a:t>лицензирования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Законность, открытость и доступность процедур.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Пропорциональность мер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требования не должны быть избыточными по сравнению с целями защиты.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Равные условия для всех лиц, добросовестность и неподкупность органов, занимающихся лицензированием.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При необходимости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учет международных обязательств РФ.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4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Перечень лицензируемых видов </a:t>
            </a:r>
            <a:r>
              <a:rPr lang="ru-RU" sz="2000" b="1" dirty="0" smtClean="0">
                <a:latin typeface="Times New Roman"/>
                <a:ea typeface="Times New Roman"/>
              </a:rPr>
              <a:t>деятельности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/>
                <a:ea typeface="Times New Roman"/>
              </a:rPr>
              <a:t>Закон </a:t>
            </a:r>
            <a:r>
              <a:rPr lang="ru-RU" sz="2000" b="1" dirty="0">
                <a:latin typeface="Times New Roman"/>
                <a:ea typeface="Times New Roman"/>
              </a:rPr>
              <a:t>определяет общий порядок, а конкретные виды деятельности, подлежащие лицензированию</a:t>
            </a:r>
            <a:r>
              <a:rPr lang="ru-RU" sz="2000" dirty="0">
                <a:latin typeface="Times New Roman"/>
                <a:ea typeface="Times New Roman"/>
              </a:rPr>
              <a:t>, и сфера их применения устанавливаются федеральными законами и подзаконными актами.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Times New Roman"/>
                <a:ea typeface="Times New Roman"/>
              </a:rPr>
              <a:t>Примеры </a:t>
            </a:r>
            <a:r>
              <a:rPr lang="ru-RU" sz="2000" b="1" dirty="0">
                <a:latin typeface="Times New Roman"/>
                <a:ea typeface="Times New Roman"/>
              </a:rPr>
              <a:t>сфер, где обычно требуется лицензия</a:t>
            </a:r>
            <a:r>
              <a:rPr lang="ru-RU" sz="2000" dirty="0">
                <a:latin typeface="Times New Roman"/>
                <a:ea typeface="Times New Roman"/>
              </a:rPr>
              <a:t>: фармацевтическая деятельность (производство/дистрибуция лекарств), медицинская деятельность, образование (некоторые виды образовательной деятельности), производство и оборот алкогольной продукции, деятельность частных охранных предприятий, </a:t>
            </a:r>
            <a:r>
              <a:rPr lang="ru-RU" sz="2000" b="1" dirty="0">
                <a:latin typeface="Times New Roman"/>
                <a:ea typeface="Times New Roman"/>
              </a:rPr>
              <a:t>деятельность в области перевозок (перевозка пассажиров/грузов специализированным транспортом),</a:t>
            </a:r>
            <a:r>
              <a:rPr lang="ru-RU" sz="2000" dirty="0">
                <a:latin typeface="Times New Roman"/>
                <a:ea typeface="Times New Roman"/>
              </a:rPr>
              <a:t> игорный бизнес и пр. (уточнение по каждой сфере — по соответствующим федеральным законам).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9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Органы, осуществляющие лицензирование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Лицензии выдаются уполномоченными федеральными органами исполнительной власти либо иными органами (в пределах их полномочий). Перечень уполномоченных органов определяется законодательством и ведомственными актами.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Органы осуществляют приём документов, проверку соответствия заявителя требованиям, принимают решения о выдаче/отказе, ведут реестр выданных лицензий и осуществляют надзор.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42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Требования к заявителю и обязательные </a:t>
            </a:r>
            <a:r>
              <a:rPr lang="ru-RU" sz="2000" b="1" dirty="0" smtClean="0">
                <a:latin typeface="Times New Roman"/>
                <a:ea typeface="Times New Roman"/>
              </a:rPr>
              <a:t>условия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Для отдельных видов деятельности закон устанавливает квалификационные, имущественные, кадровые, технические и иные требования (например: наличие квалифицированного персонала, помещений, оборудования, финансовой устойчивости, санитарных условий и пр.).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Наличие у заявителя документов, подтверждающих соответствие установленным требованиям, </a:t>
            </a:r>
            <a:r>
              <a:rPr lang="ru-RU" sz="2000" dirty="0" smtClean="0">
                <a:latin typeface="Times New Roman"/>
                <a:ea typeface="Times New Roman"/>
              </a:rPr>
              <a:t>- </a:t>
            </a:r>
            <a:r>
              <a:rPr lang="ru-RU" sz="2000" dirty="0">
                <a:latin typeface="Times New Roman"/>
                <a:ea typeface="Times New Roman"/>
              </a:rPr>
              <a:t>обязательное условие для получения лицензии.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84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Сроки, приостановление и отзыв </a:t>
            </a:r>
            <a:r>
              <a:rPr lang="ru-RU" sz="2000" b="1" dirty="0" smtClean="0">
                <a:latin typeface="Times New Roman"/>
                <a:ea typeface="Times New Roman"/>
              </a:rPr>
              <a:t>лицензии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Лицензия может быть выдана бессрочно или на определённый срок — в зависимости от особенностей вида деятельности и требований законодательства.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Основания для приостановления или отзыва (аннулирования) лицензии включают: систематическое нарушение лицензионных требований, создание угрозы жизни/здоровью/безопасности, использование лицензии не по назначению, предоставление недостоверных сведений и т. п.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Порядок приостановления, приостановления деятельности и восстановления прав регулируется законом и подзаконными актами; обычно предусматриваются процедуры предостережения, исправления нарушений и обжалования решений.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48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Ответственность и </a:t>
            </a:r>
            <a:r>
              <a:rPr lang="ru-RU" sz="2000" b="1" dirty="0" smtClean="0">
                <a:latin typeface="Times New Roman"/>
                <a:ea typeface="Times New Roman"/>
              </a:rPr>
              <a:t>контроль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Лицензиаты подлежат государственному контролю (надзору) за соблюдением условий лицензии и требований профильного законодательства.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Нарушения влекут административную, гражданско‑правовую или иную ответственность, а также дисциплинарные меры в отношении должностных лиц.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61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Федеральный закон от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04.05.2011 № 99-ФЗ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 лицензировании отдельных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видов деятельности»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58950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Реестр лицензий и информационная </a:t>
            </a:r>
            <a:r>
              <a:rPr lang="ru-RU" sz="2000" b="1" dirty="0" smtClean="0">
                <a:latin typeface="Times New Roman"/>
                <a:ea typeface="Times New Roman"/>
              </a:rPr>
              <a:t>открытость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>
                <a:latin typeface="Times New Roman"/>
                <a:ea typeface="Times New Roman"/>
              </a:rPr>
              <a:t>Закон предусматривает ведение реестра выданных лицензий (единый реестр или ведомственные реестры), доступ к сведениям о себе лицензиатам, а также публичный доступ к определённым сведениям (в рамках законодательства о доступе к информации).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1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Цель практической работы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/>
                <a:ea typeface="Times New Roman"/>
              </a:rPr>
              <a:t>Цель:</a:t>
            </a:r>
            <a:r>
              <a:rPr lang="ru-RU" sz="2000" dirty="0"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</a:rPr>
              <a:t>изучить </a:t>
            </a:r>
            <a:r>
              <a:rPr lang="ru-RU" sz="2000" dirty="0">
                <a:latin typeface="Times New Roman"/>
                <a:ea typeface="Times New Roman"/>
              </a:rPr>
              <a:t>нормативные требования и процессы сертификации и лицензирования элементов ИТС, используемых в беспилотных системах, и применить полученные знания для разработки детальной стратегии сертификации конкретной беспилотной системы.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В </a:t>
            </a:r>
            <a:r>
              <a:rPr lang="ru-RU" sz="2000" dirty="0">
                <a:latin typeface="Times New Roman"/>
                <a:ea typeface="Times New Roman"/>
              </a:rPr>
              <a:t>ИТС </a:t>
            </a:r>
            <a:r>
              <a:rPr lang="ru-RU" sz="2000" dirty="0" smtClean="0">
                <a:latin typeface="Times New Roman"/>
                <a:ea typeface="Times New Roman"/>
              </a:rPr>
              <a:t>в настоящее время </a:t>
            </a:r>
            <a:r>
              <a:rPr lang="ru-RU" sz="2000" dirty="0">
                <a:latin typeface="Times New Roman"/>
                <a:ea typeface="Times New Roman"/>
              </a:rPr>
              <a:t>сертифицируются следующие элементы: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- </a:t>
            </a:r>
            <a:r>
              <a:rPr lang="ru-RU" sz="2000" smtClean="0">
                <a:latin typeface="Times New Roman"/>
                <a:ea typeface="Times New Roman"/>
              </a:rPr>
              <a:t>светофоры дорожные, </a:t>
            </a:r>
            <a:r>
              <a:rPr lang="ru-RU" sz="2000" dirty="0">
                <a:latin typeface="Times New Roman"/>
                <a:ea typeface="Times New Roman"/>
              </a:rPr>
              <a:t>знаки с изменяющейся информацией (требования ТР ТС 014/2011);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- дорожные контроллеры, детекторы транспорта (п.2 ст.4 162-ФЗ);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- </a:t>
            </a:r>
            <a:r>
              <a:rPr lang="ru-RU" sz="2000" dirty="0" err="1">
                <a:latin typeface="Times New Roman"/>
                <a:ea typeface="Times New Roman"/>
              </a:rPr>
              <a:t>метео</a:t>
            </a:r>
            <a:r>
              <a:rPr lang="ru-RU" sz="2000" dirty="0">
                <a:latin typeface="Times New Roman"/>
                <a:ea typeface="Times New Roman"/>
              </a:rPr>
              <a:t> (на утверждение типа средства измерения).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19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Исходные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данные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Компания разрабатывает </a:t>
            </a:r>
            <a:r>
              <a:rPr lang="ru-RU" sz="2000" dirty="0">
                <a:latin typeface="Times New Roman"/>
                <a:ea typeface="Times New Roman"/>
              </a:rPr>
              <a:t>беспилотную систему доставки грузов для использования в городских условиях.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Система </a:t>
            </a:r>
            <a:r>
              <a:rPr lang="ru-RU" sz="2000" dirty="0">
                <a:latin typeface="Times New Roman"/>
                <a:ea typeface="Times New Roman"/>
              </a:rPr>
              <a:t>состоит из беспилотного наземного транспортного средства (БНТС), системы управления движением и инфраструктуры, включающей в себя элементы ИТС.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7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Анализ элементов ИТС, используемых в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БНТС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740037"/>
            <a:ext cx="8418368" cy="3653219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1. Анализ </a:t>
            </a:r>
            <a:r>
              <a:rPr lang="ru-RU" sz="2000" dirty="0">
                <a:latin typeface="Times New Roman"/>
                <a:ea typeface="Times New Roman"/>
              </a:rPr>
              <a:t>элементов ИТС, используемых в БНТС </a:t>
            </a:r>
            <a:endParaRPr lang="ru-RU" sz="2000" dirty="0" smtClean="0">
              <a:latin typeface="Times New Roman"/>
              <a:ea typeface="Times New Roman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•</a:t>
            </a:r>
            <a:r>
              <a:rPr lang="ru-RU" sz="2000" dirty="0">
                <a:latin typeface="Times New Roman"/>
                <a:ea typeface="Times New Roman"/>
              </a:rPr>
              <a:t>	Идентифицируйте элементы ИТС, которые будут использоваться в разрабатываемой БНТС </a:t>
            </a:r>
            <a:r>
              <a:rPr lang="ru-RU" sz="2000" dirty="0" smtClean="0">
                <a:latin typeface="Times New Roman"/>
                <a:ea typeface="Times New Roman"/>
              </a:rPr>
              <a:t>организации.</a:t>
            </a:r>
            <a:endParaRPr lang="ru-RU" sz="2000" dirty="0">
              <a:latin typeface="Times New Roman"/>
              <a:ea typeface="Times New Roman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Для каждого идентифицированного элемента определите его функциональное назначение в системе БНТС.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•	Укажите основные технические характеристики </a:t>
            </a:r>
            <a:r>
              <a:rPr lang="ru-RU" sz="2000" dirty="0" smtClean="0">
                <a:latin typeface="Times New Roman"/>
                <a:ea typeface="Times New Roman"/>
              </a:rPr>
              <a:t>элемента.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Заполните таблицу 1.</a:t>
            </a: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42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788670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Анализ элементов ИТС, используемых в БНТС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863506"/>
              </p:ext>
            </p:extLst>
          </p:nvPr>
        </p:nvGraphicFramePr>
        <p:xfrm>
          <a:off x="124690" y="1759525"/>
          <a:ext cx="8922328" cy="51205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219"/>
                <a:gridCol w="1565564"/>
                <a:gridCol w="4017818"/>
                <a:gridCol w="2978727"/>
              </a:tblGrid>
              <a:tr h="515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967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 ИТС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967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Функциональное назначение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967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Основные технические характеристики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4967" marR="41343" marT="41343" marB="41343" anchor="ctr"/>
                </a:tc>
              </a:tr>
              <a:tr h="596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Лидар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Обнаружение и определение расстояния до объектов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Дальность, угол обзора, точность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512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Радар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Обнаружение объектов в сложных погодных условиях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Дальность, угол обзора, частота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499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Камера (стереопара)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Распознавание дорожной разметки, знаков, пешеходов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Разрешение, частота кадров, угол обзора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3887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GPS/ГЛОНАСС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Определение местоположения БНТС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Точность, частота обновления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512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Радиомодем (4G/5G)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Связь с диспетчерским центром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Частотный диапазон, скорость передачи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515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Светофор с поддержкой V2I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Передача информации о фазах светофора БНТС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Протокол обмена данными (например, SAE J2735)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940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Дорожный знак с изменяющейся информацией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Отображение оперативной информации (например, ограничения скорости)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Тип индикатора, протокол обмена данными (если есть)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  <a:tr h="2316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1343" marR="41343" marT="41343" marB="41343" anchor="ctr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909540" y="1254575"/>
            <a:ext cx="41374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rgbClr val="494949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Таблица 1.  Элементы ИТС в БНТС </a:t>
            </a:r>
            <a:endParaRPr kumimoji="0" lang="ru-RU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97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3734</TotalTime>
  <Words>1386</Words>
  <Application>Microsoft Office PowerPoint</Application>
  <PresentationFormat>Экран (4:3)</PresentationFormat>
  <Paragraphs>189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29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 </vt:lpstr>
      <vt:lpstr>Презентация PowerPoint</vt:lpstr>
      <vt:lpstr>ОСНОВНЫЕ  НОРМАТИВНО-ПРАВОВЫЕ АКТЫ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 27.12.2002 № 184-ФЗ «О техническом регулировании»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Федеральный закон от 04.05.2011 № 99-ФЗ «О лицензировании отдельных видов деятельности»</vt:lpstr>
      <vt:lpstr>Цель практической работы</vt:lpstr>
      <vt:lpstr>Исходные данные</vt:lpstr>
      <vt:lpstr>1. Анализ элементов ИТС, используемых в БНТС</vt:lpstr>
      <vt:lpstr>1. Анализ элементов ИТС, используемых в БНТС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245</cp:revision>
  <dcterms:created xsi:type="dcterms:W3CDTF">2015-07-29T11:14:37Z</dcterms:created>
  <dcterms:modified xsi:type="dcterms:W3CDTF">2026-06-26T20:17:59Z</dcterms:modified>
</cp:coreProperties>
</file>